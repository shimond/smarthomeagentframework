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85014" autoAdjust="0"/>
  </p:normalViewPr>
  <p:slideViewPr>
    <p:cSldViewPr snapToGrid="0" snapToObjects="1">
      <p:cViewPr>
        <p:scale>
          <a:sx n="141" d="100"/>
          <a:sy n="141" d="100"/>
        </p:scale>
        <p:origin x="10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28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build one agent and keep adding capabilities: tools, structured output, memory, RAG, middleware, MCP and multi-agent. Everything runs in ASP.NET Core and we debug it visually in DevUI. The running example replaces the book's robot car with a smart-home concierge.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Aspire is what lets eleven separate step projects, a model container, and a database all come up together with one command. It's not part of Agent Framework itself — it's the plumbing we use to run the whole course smoothly. Three things it buys us: orchestration, service discovery, and observability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literal AppHost code we'll run all day. AddOllama + AddModel brings up the container and pulls the model once; AddPostgres + AddDatabase brings up the DB for Step 5. Every step project just references these by name — Aspire resolves the actual container endpoint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screen we'll keep open in a side tab all day. Green dots mean running. Containers and projects show up side by side, which is the whole point — Aspire doesn't care whether a resource is a Docker container or a .NET project, it manages both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the most basic possible code. No Microsoft.Extensions.AI, no agent, just the OpenAI SDK doing exactly what its docs say. CompleteChatAsync waits for the whole answer before returning.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changes the UX, not the answer. DI is what makes this testable and swappable later — one registration, resolved anywhere via constructor injection. Still zero abstraction yet: the registered type is the concrete OpenAI ChatClient.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intent as the OpenAI slide, completely different shape. There's no CompleteChatAsync equivalent — OllamaSharp's ChatAsync always returns an async stream, so getting a single full answer means accumulating chunks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 registration LOOKS similar to OpenAI's — AddSingleton with a concrete instance — but the type is OllamaApiClient, not ChatClient. Any code that depends on the concrete type is now locked to this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to pause and let it land: we just wrote the same feature twice, with two unrelated SDKs, and neither version transfers to the other. That's not a one-off annoyance — it's four structural costs you'd keep paying on every future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Step 1 in the course. The abstraction doesn't add a feature — it removes a dependency. Everything written against IChatClient stops caring which provider is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loud: a nightly job that reads 10,000 car listings and writes a pros/cons paragraph into each one is an agent workload, even though no one ever types into a box. Keep this in mind as we build the smart-home concierge today — chat is the easiest way to DEMO an agent, not the only way to ship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mental model for the whole day: agent = LLM + instructions + tools + memory. The leap from chatbot to agent is autonomy — it composes tool calls to reach a goal you didn't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Framework is the convergence of Semantic Kernel and AutoGen into one supported SDK, now at 1.0 with stable APIs across .NET and Python. DevUI is the newer piece — a visual dev loop we'll lean on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reduces to two primitives: agents and workflows. Single agents take us most of the day; we compose them into a workflow at the end. Both are hosted with the same ASP.NET DI you already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IChatClient, many backends. In the sample we switch via appsettings. For a no-cost room I recommend GitHub Models or local Ollama. The agent and tools are identical regardless of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DevUI is our debugger. Point out the sidebar of agents, and that each tool call shows arguments and results. It mounts at /devui in development only. One caveat for later: telemetry isn't rendered in DevUI for .NET yet — we'll use the Aspire dashboard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swap the robot for a house? The pedagogy is identical for function calling, but the home gives us persistent state (memory), sensitive actions (approval), documents (RAG), live data (MCP) and separate concerns (multi-agent). All simulated in-memory, so it demos with zero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arc. We never start over — every module bolts one capability onto the same agent and we watch it in DevUI. Module 6 (in amber) is where production-readiness enters: approval and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thread is just RAM. In-memory provider = sticky to one container; scale to 2 replicas and turn 2 can land on a box that never saw turn 1. The fix isn't routing tricks (session affinity) — it's externalizing the thread's storage. Same thread concept, different provider underneath: every container reads/writes the same Postgres row. Step 5's pattern: load by conversationId at the start of a run, rehydrate the thread, run, write back — not a per-token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stack is ordinary ASP.NET. Agents and workflows are registered in DI and resolved like services. Tools, sessions and middleware hang off the same container. DevUI and AG-UI are just two front doors onto the same OpenAI-compatible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them with the four things that separate a demo from production: pin versions, gate sensitive tools behind approval, ship OpenTelemetry, and write evals so quality is measured, not vibed.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the book repo is the source of truth for code. Point them at the Microsoft repos and DevUI docs. Then transition straight into the live Module 2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5669280" cy="5669280"/>
          </a:xfrm>
          <a:prstGeom prst="ellipse">
            <a:avLst/>
          </a:prstGeom>
          <a:solidFill>
            <a:srgbClr val="0D9488">
              <a:alpha val="14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 · 6 HOURS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.NET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Framework, end-to-end with ASP.NET Core + DevUI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841248" cy="84124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65" y="5027737"/>
            <a:ext cx="386974" cy="38697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18488" y="4800600"/>
            <a:ext cx="841248" cy="84124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625" y="5027737"/>
            <a:ext cx="386974" cy="38697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70048" y="4800600"/>
            <a:ext cx="841248" cy="841248"/>
          </a:xfrm>
          <a:prstGeom prst="ellipse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185" y="5027737"/>
            <a:ext cx="386974" cy="3869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67328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Smart Home Concierge agent, grown one concept at a time.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.NET Aspire?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opinionated, code-first stack for building and running distributed .NET apps — the layer that wires today's many small pieces together.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377440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22960" y="263347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2781605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72768" y="2889504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AppHost project starts every service AND its containers — Ollama, Postgres — together.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" y="3593592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9"/>
          <p:cNvSpPr/>
          <p:nvPr/>
        </p:nvSpPr>
        <p:spPr>
          <a:xfrm>
            <a:off x="822960" y="384962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3997757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572768" y="4105656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find each other (and their containers) by name, not hard-coded URLs.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66928" y="4809744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3"/>
          <p:cNvSpPr/>
          <p:nvPr/>
        </p:nvSpPr>
        <p:spPr>
          <a:xfrm>
            <a:off x="822960" y="506577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3" y="5213909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72768" y="4965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free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572768" y="5321808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AddServiceDefaults() gives every project OpenTelemetry + health checks, with zero extra code.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runtime, not a new language feature — a development-time and orchestration layer on top of ordinary ASP.NET Core.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everything comes up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 --project src/SmartHome.AppHost starts the model, the database, and every step project — wired together.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24028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768096" y="2386584"/>
            <a:ext cx="55778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ollama = builder.AddOllama("ollama");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chat = ollama.AddModel("chat", "llama3.2");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pg = builder.AddPostgres("postgres");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db = pg.AddDatabase("conversations");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builder.AddProject&lt;...Step5_PersistentChat&gt;("step5")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.WithReference(chat).WithReference(db);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2240280"/>
            <a:ext cx="5132527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7"/>
          <p:cNvSpPr/>
          <p:nvPr/>
        </p:nvSpPr>
        <p:spPr>
          <a:xfrm>
            <a:off x="6693408" y="242316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196" y="255894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40280"/>
            <a:ext cx="41266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(chat: llama3.2)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92240" y="3246120"/>
            <a:ext cx="5132527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6693408" y="342900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196" y="356478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3246120"/>
            <a:ext cx="41266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(conversations)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92240" y="4251960"/>
            <a:ext cx="5132527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3"/>
          <p:cNvSpPr/>
          <p:nvPr/>
        </p:nvSpPr>
        <p:spPr>
          <a:xfrm>
            <a:off x="6693408" y="443484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196" y="4570628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251960"/>
            <a:ext cx="41266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step0a … step9 + mcp-server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66928" y="5349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project below is just .WithReference(chat) away from the same Ollama container — no per-project setup.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Aspire Dashboard — one view, every service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— containers AND projects — with live status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per resource, searchable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 across service calls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we'll watch Step 7's OpenTelemetry demo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768096" y="4581144"/>
            <a:ext cx="47548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--project src/SmartHome.AppHost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 opens automatically at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https://localhost:17xxx/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498287" cy="4251960"/>
          </a:xfrm>
          <a:prstGeom prst="roundRect">
            <a:avLst>
              <a:gd name="adj" fmla="val 172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498287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8"/>
          <p:cNvSpPr/>
          <p:nvPr/>
        </p:nvSpPr>
        <p:spPr>
          <a:xfrm>
            <a:off x="6291072" y="1901952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6492240" y="190195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6693408" y="190195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6995160" y="1828800"/>
            <a:ext cx="4401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Aspire Dashboard — Resources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27648" y="23957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6565392" y="22860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390327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7648" y="28529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6"/>
          <p:cNvSpPr/>
          <p:nvPr/>
        </p:nvSpPr>
        <p:spPr>
          <a:xfrm>
            <a:off x="6565392" y="27432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390327" y="2743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27648" y="33101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6565392" y="32004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step3-concierge-agent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390327" y="3200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27648" y="37673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2"/>
          <p:cNvSpPr/>
          <p:nvPr/>
        </p:nvSpPr>
        <p:spPr>
          <a:xfrm>
            <a:off x="6565392" y="36576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step5-persistent-chat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390327" y="3657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27648" y="42245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6565392" y="41148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step7-agent-approval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390327" y="4114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327648" y="46817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1" name="Text 28"/>
          <p:cNvSpPr/>
          <p:nvPr/>
        </p:nvSpPr>
        <p:spPr>
          <a:xfrm>
            <a:off x="6565392" y="4572000"/>
            <a:ext cx="3760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mcp-energy-server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390327" y="4572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327648" y="5120640"/>
            <a:ext cx="5132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Running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CLIENT #1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ChatClient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possible starting point: talk to one provider's SDK directly, no abstraction in between.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the provider's native features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moving parts — easiest to reason about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translation layer between you and the API docs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when you'll only ever use ONE provider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(COMPLETED) — ONE CALL, FULL ANSWER BACK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4553712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700016"/>
            <a:ext cx="5577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client = new("gpt-4o-mini", credential);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ChatCompletion completion 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client.CompleteChatAsync(messages);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Console.WriteLine(completion.Content[0].Text);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75120" y="2286000"/>
            <a:ext cx="4949647" cy="361188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6949440" y="256032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386" y="2723266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633472"/>
            <a:ext cx="37609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95160" y="3246120"/>
            <a:ext cx="430956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OpenAI.Chat namespace. ChatClient is the entry point; ChatCompletion is the result type. This is what Step 0a in the course uses, on purpose — before any abstraction.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CLIENT #1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streaming and DI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that matter the moment this leaves a console app: perceived latency, and how the client gets to your code.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TOKENS ARRIVE AS THEY'RE GENERATED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578608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68096" y="2724912"/>
            <a:ext cx="1069207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update in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client.CompleteChatStreamingAsync(messages))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(var part in update.ContentUpdate)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Console.Write(part.Text);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" y="43434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— REGISTER IT ONCE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636008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768096" y="4782312"/>
            <a:ext cx="1069207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apiKey = Environment.GetEnvironmentVariable("OPENAI_API_KEY");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builder.Services.AddSingleton(new ChatClient("gpt-4o-mini", new ApiKeyCredential(apiKey)));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CLIENT #2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Ollama ChatClient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as the OpenAI slide — answer a question — for reasons that have nothing to do with the API shape.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— no API key, no network dependency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the point of use — no per-token billing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machine — a real privacy story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 for a workshop room with no Wi-Fi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SAME GOAL, DIFFERENT SDK ENTIRELY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4553712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700016"/>
            <a:ext cx="5577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 = new OllamaApiClient(endpoint, "llama3.2");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sb = new StringBuilder();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chunk in client.ChatAsync(request))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sb.Append(chunk?.Message?.Content);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75120" y="2286000"/>
            <a:ext cx="4949647" cy="361188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6949440" y="256032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386" y="2723266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633472"/>
            <a:ext cx="37609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OllamaSharp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95160" y="3246120"/>
            <a:ext cx="430956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there's no separate ‘get the full response’ method — everything streams under the hood. To get one complete answer, we drain the chunks ourselves.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CLIENT #2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streaming and DI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here isn't a separate method — it's the only mode. DI registration looks almost the same shape, with a different concrete type inside.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THE NATURAL MODE FOR THIS SDK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578608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68096" y="2724912"/>
            <a:ext cx="1069207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chunk in client.ChatAsync(request))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text = chunk?.Message?.Content;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(!string.IsNullOrEmpty(text)) Console.Write(text);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" y="43434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— SAME PATTERN, DIFFERENT TYPE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636008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768096" y="4782312"/>
            <a:ext cx="1069207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endpoint = builder.Configuration["SmartHome:OllamaEndpoint"] ?? "http://localhost:11434";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builder.Services.AddSingleton(new OllamaApiClient(new Uri(endpoint), "llama3.2"));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GOING DIRECT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give up with a raw ChatClient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10312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4"/>
          <p:cNvSpPr/>
          <p:nvPr/>
        </p:nvSpPr>
        <p:spPr>
          <a:xfrm>
            <a:off x="841248" y="2377440"/>
            <a:ext cx="548640" cy="548640"/>
          </a:xfrm>
          <a:prstGeom prst="ellipse">
            <a:avLst/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252557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377440"/>
            <a:ext cx="411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59536" y="2944368"/>
            <a:ext cx="471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code's types and method names ARE the provider's SDK. Switching means rewriting call sites, not editing config.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24448" y="210312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8"/>
          <p:cNvSpPr/>
          <p:nvPr/>
        </p:nvSpPr>
        <p:spPr>
          <a:xfrm>
            <a:off x="6598768" y="2377440"/>
            <a:ext cx="548640" cy="548640"/>
          </a:xfrm>
          <a:prstGeom prst="ellipse">
            <a:avLst/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900" y="252557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30288" y="2377440"/>
            <a:ext cx="411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contract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617056" y="2944368"/>
            <a:ext cx="471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ChatMessage and Ollama's Message aren't interchangeable — every call site that touches messages is provider-specific.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6928" y="41148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2"/>
          <p:cNvSpPr/>
          <p:nvPr/>
        </p:nvSpPr>
        <p:spPr>
          <a:xfrm>
            <a:off x="841248" y="4389120"/>
            <a:ext cx="548640" cy="548640"/>
          </a:xfrm>
          <a:prstGeom prst="ellipse">
            <a:avLst/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53725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389120"/>
            <a:ext cx="411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test/mock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59536" y="4956048"/>
            <a:ext cx="471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SDK clients aren't built for substitution — testing without hitting a real model (or container) is awkward at best.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24448" y="41148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16"/>
          <p:cNvSpPr/>
          <p:nvPr/>
        </p:nvSpPr>
        <p:spPr>
          <a:xfrm>
            <a:off x="6598768" y="4389120"/>
            <a:ext cx="548640" cy="548640"/>
          </a:xfrm>
          <a:prstGeom prst="ellipse">
            <a:avLst/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900" y="4537253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30288" y="4389120"/>
            <a:ext cx="411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middleware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6617056" y="4956048"/>
            <a:ext cx="471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retries, telemetry — each provider's SDK has its own (or no) extension points. Nothing composes across providers.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real cost we just paid, twice, on the last four slides.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RELIEF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interface: IChatClient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Microsoft.Extensions.AI wraps both SDKs behind one contract. Same method names, same call site, regardless of what's underneath.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via CONFIG, not code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 registration, one return type everywhere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composes: .UseLogging().UseOpenTelemetry()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IChatClient once, test everything that depends on 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STREAMING — IDENTICAL CALL SITE, EITHER PROVIDER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61772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764024"/>
            <a:ext cx="5577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response = await chat.GetResponseAsync(messages);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update in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chat.GetStreamingResponseAsync(messages))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Console.Write(update.Text);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75120" y="2286000"/>
            <a:ext cx="4949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— PROVIDER PICKED BY CONFIG, NOT BY CODE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75120" y="2560320"/>
            <a:ext cx="4949647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6876288" y="2706624"/>
            <a:ext cx="4583887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IChatClient chat = provider switch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"OpenAI" =&gt; openAiClient.AsIChatClient(),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"Ollama" =&gt; new OllamaApiClient(uri, model),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 =&gt; throw new(...)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builder.Services.AddSingleton(chat);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0" y="4526280"/>
            <a:ext cx="4949647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6903720" y="4709160"/>
            <a:ext cx="44924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site upstream — endpoints, agents, tools — depends only on IChatClient. This one switch statement is the ONLY place that knows OpenAI or Ollama exist.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LENS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not just a chat window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we've shown so far looks conversational. Most real agent deployments aren't a chat UI at all — they're a process running against your data.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22960" y="2724912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2877983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91056" y="2633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content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91056" y="2999232"/>
            <a:ext cx="9686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documents, support tickets, meeting transcripts → a short, structured summary. No back-and-forth needed.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3730752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9"/>
          <p:cNvSpPr/>
          <p:nvPr/>
        </p:nvSpPr>
        <p:spPr>
          <a:xfrm>
            <a:off x="822960" y="3986784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31" y="4139855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91056" y="3895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existing records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591056" y="4261104"/>
            <a:ext cx="9686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or car listing already has specs. An agent reads it and ADDS pros/cons, a one-line verdict, or missing fields — batch, not chat.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4992624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3"/>
          <p:cNvSpPr/>
          <p:nvPr/>
        </p:nvSpPr>
        <p:spPr>
          <a:xfrm>
            <a:off x="822960" y="5248656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031" y="5401727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91056" y="5157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image processing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591056" y="5522976"/>
            <a:ext cx="9686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tag, or describe images in a queue, with no human watching it happen turn by turn.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6928" y="62636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building blocks — IChatClient, instructions, sometimes tools. The difference is who (or what) triggers the run, not the underlying technology.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chatbots to agents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answers. An agent decides, acts, and remembers — it wraps a model with instructions, tools and memory.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377440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22960" y="263347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2781605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72768" y="2889504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steps from a natural-language goal instead of matching a single intent.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" y="3593592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9"/>
          <p:cNvSpPr/>
          <p:nvPr/>
        </p:nvSpPr>
        <p:spPr>
          <a:xfrm>
            <a:off x="822960" y="384962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3997757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572768" y="4105656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your functions (tools) to change real state — lights, locks, APIs.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66928" y="4809744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3"/>
          <p:cNvSpPr/>
          <p:nvPr/>
        </p:nvSpPr>
        <p:spPr>
          <a:xfrm>
            <a:off x="822960" y="506577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3" y="5213909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72768" y="4965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572768" y="5321808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context across turns and sessions, so it builds on what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production-ready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749808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8895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plumbing,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DI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355848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813048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3995928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95928" y="28895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01968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601968" y="22860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7196328" y="22860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736092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60920" y="2889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 · .NET + Python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411480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566928" y="49377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stable APIs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405274" y="411480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+ Py</a:t>
            </a:r>
            <a:endParaRPr lang="en-US" sz="4600" dirty="0"/>
          </a:p>
        </p:txBody>
      </p:sp>
      <p:sp>
        <p:nvSpPr>
          <p:cNvPr id="21" name="Text 18"/>
          <p:cNvSpPr/>
          <p:nvPr/>
        </p:nvSpPr>
        <p:spPr>
          <a:xfrm>
            <a:off x="4405274" y="49377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43621" y="411480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/devui</a:t>
            </a:r>
            <a:endParaRPr lang="en-US" sz="4600" dirty="0"/>
          </a:p>
        </p:txBody>
      </p:sp>
      <p:sp>
        <p:nvSpPr>
          <p:cNvPr id="23" name="Text 20"/>
          <p:cNvSpPr/>
          <p:nvPr/>
        </p:nvSpPr>
        <p:spPr>
          <a:xfrm>
            <a:off x="8243621" y="49377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dev loop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building blocks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194560"/>
            <a:ext cx="53003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4"/>
          <p:cNvSpPr/>
          <p:nvPr/>
        </p:nvSpPr>
        <p:spPr>
          <a:xfrm>
            <a:off x="841248" y="24688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94" y="2631826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542032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86968" y="3246120"/>
            <a:ext cx="466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wrapper that reasons, calls tools and produces results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IChatClient — provider-agnostic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ChatClientAgent + instructions + tools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86968" y="4846320"/>
            <a:ext cx="46602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1088136" y="4992624"/>
            <a:ext cx="4294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ChatClientAgent(chat, new()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Instructions = "…",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ChatOptions = new(){ Tools = [...]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24448" y="2194560"/>
            <a:ext cx="53003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6598768" y="246888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714" y="2631826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30288" y="2542032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644488" y="3246120"/>
            <a:ext cx="466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where each node is an agent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concurrent, handoff, group chat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exposed as a single agent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44488" y="4846320"/>
            <a:ext cx="46602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Text 14"/>
          <p:cNvSpPr/>
          <p:nvPr/>
        </p:nvSpPr>
        <p:spPr>
          <a:xfrm>
            <a:off x="6845656" y="4992624"/>
            <a:ext cx="4294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wf = new WorkflowBuilder(frontDesk)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.AddEdge(frontDesk, reviewer)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ICHATCLIENT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providers, not code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 to one abstraction — IChatClient. Pick the model in config; the agent code never changes.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191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1142360" y="2743200"/>
            <a:ext cx="768096" cy="76809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746" y="2950586"/>
            <a:ext cx="353324" cy="3533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3611880"/>
            <a:ext cx="182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851648" y="2468880"/>
            <a:ext cx="191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8"/>
          <p:cNvSpPr/>
          <p:nvPr/>
        </p:nvSpPr>
        <p:spPr>
          <a:xfrm>
            <a:off x="3427080" y="2743200"/>
            <a:ext cx="768096" cy="76809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466" y="2950586"/>
            <a:ext cx="353324" cy="353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97368" y="3611880"/>
            <a:ext cx="182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136368" y="2468880"/>
            <a:ext cx="191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1"/>
          <p:cNvSpPr/>
          <p:nvPr/>
        </p:nvSpPr>
        <p:spPr>
          <a:xfrm>
            <a:off x="5711800" y="2743200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186" y="2950586"/>
            <a:ext cx="353324" cy="3533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2088" y="3611880"/>
            <a:ext cx="182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Models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421088" y="2468880"/>
            <a:ext cx="191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4"/>
          <p:cNvSpPr/>
          <p:nvPr/>
        </p:nvSpPr>
        <p:spPr>
          <a:xfrm>
            <a:off x="7996519" y="2743200"/>
            <a:ext cx="768096" cy="76809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905" y="2950586"/>
            <a:ext cx="353324" cy="3533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66808" y="3611880"/>
            <a:ext cx="182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705807" y="2468880"/>
            <a:ext cx="191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17"/>
          <p:cNvSpPr/>
          <p:nvPr/>
        </p:nvSpPr>
        <p:spPr>
          <a:xfrm>
            <a:off x="10281239" y="2743200"/>
            <a:ext cx="768096" cy="76809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625" y="2950586"/>
            <a:ext cx="353324" cy="3533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751527" y="3611880"/>
            <a:ext cx="182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(on-device)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offline for a workshop room: GitHub Models (just a PAT) or Ollama (no internet).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66928" y="516636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1"/>
          <p:cNvSpPr/>
          <p:nvPr/>
        </p:nvSpPr>
        <p:spPr>
          <a:xfrm>
            <a:off x="768096" y="5312664"/>
            <a:ext cx="106920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IChatClient chat = new ChatClient("gpt-4o-mini", cred,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OpenAIClientOptions { Endpoint = githubModels }).AsIChatClient();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DevUI — Swagger UI for agents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profile — name, instructions, tools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— arguments + return value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trail, step by step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over OpenAI-compatible endpoints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Dev-only: app.MapDevUI() at /devui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786384" y="45902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builder.AddAIAgent("concierge", …);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(app.Environment.IsDevelopment())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app.MapDevUI();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498287" cy="42976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498287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8"/>
          <p:cNvSpPr/>
          <p:nvPr/>
        </p:nvSpPr>
        <p:spPr>
          <a:xfrm>
            <a:off x="6291072" y="1901952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6492240" y="190195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6693408" y="190195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6995160" y="1828800"/>
            <a:ext cx="4401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localhost:5102/devui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1554480" cy="3931920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6291072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2377440"/>
            <a:ext cx="35780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up movie night”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863840" y="2834640"/>
            <a:ext cx="3532327" cy="4572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97180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75320" y="2834640"/>
            <a:ext cx="3120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SetLight(LivingRoom, 15%)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63840" y="3401568"/>
            <a:ext cx="3532327" cy="4572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53872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3401568"/>
            <a:ext cx="3120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SetThermostat(21°C)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863840" y="3968496"/>
            <a:ext cx="3532327" cy="4572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10565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75320" y="3968496"/>
            <a:ext cx="3120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PlayMusic('chill')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863840" y="4535424"/>
            <a:ext cx="3532327" cy="4572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72584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75320" y="4535424"/>
            <a:ext cx="3120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LockDoor()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EXAMPLE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Concierge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teaching vehicle as the book's robot car — natural language to discrete commands — but with state, secrets and knowledge the car never had.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423160"/>
            <a:ext cx="530032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41248" y="2697480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2845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743200"/>
            <a:ext cx="420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RobotCarGpt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86968" y="3383280"/>
            <a:ext cx="466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/ Back / Left / Right / Stop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beautifully simple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the car forgets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24448" y="2423160"/>
            <a:ext cx="530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9"/>
          <p:cNvSpPr/>
          <p:nvPr/>
        </p:nvSpPr>
        <p:spPr>
          <a:xfrm>
            <a:off x="6598768" y="269748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900" y="2845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84568" y="2743200"/>
            <a:ext cx="411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Concierge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644488" y="3383280"/>
            <a:ext cx="466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· thermostat · locks · scenes · music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state persists  → memory &amp; sessions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/ disarm  → human approval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 → RAG · prices → MCP · roles → multi-agent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912968" y="3566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modules, one growing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7862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08" y="3271906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2648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192339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2192339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543273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219" y="3271906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38059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238059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vision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817751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3"/>
          <p:cNvSpPr/>
          <p:nvPr/>
        </p:nvSpPr>
        <p:spPr>
          <a:xfrm>
            <a:off x="3817751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4168684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630" y="3271906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63471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3863471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+ persist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43162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18"/>
          <p:cNvSpPr/>
          <p:nvPr/>
        </p:nvSpPr>
        <p:spPr>
          <a:xfrm>
            <a:off x="5443162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5794096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042" y="3271906"/>
            <a:ext cx="277612" cy="2776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8882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488882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manuals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068573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3"/>
          <p:cNvSpPr/>
          <p:nvPr/>
        </p:nvSpPr>
        <p:spPr>
          <a:xfrm>
            <a:off x="7068573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7419507" y="310896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453" y="3271906"/>
            <a:ext cx="277612" cy="2776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14293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114293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+ OTel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693985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28"/>
          <p:cNvSpPr/>
          <p:nvPr/>
        </p:nvSpPr>
        <p:spPr>
          <a:xfrm>
            <a:off x="8693985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6" name="Shape 29"/>
          <p:cNvSpPr/>
          <p:nvPr/>
        </p:nvSpPr>
        <p:spPr>
          <a:xfrm>
            <a:off x="9044918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7864" y="3271906"/>
            <a:ext cx="277612" cy="2776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39705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739705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10319396" y="2194560"/>
            <a:ext cx="1305371" cy="3108960"/>
          </a:xfrm>
          <a:prstGeom prst="roundRect">
            <a:avLst>
              <a:gd name="adj" fmla="val 56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3"/>
          <p:cNvSpPr/>
          <p:nvPr/>
        </p:nvSpPr>
        <p:spPr>
          <a:xfrm>
            <a:off x="10319396" y="2377440"/>
            <a:ext cx="13053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42" name="Shape 34"/>
          <p:cNvSpPr/>
          <p:nvPr/>
        </p:nvSpPr>
        <p:spPr>
          <a:xfrm>
            <a:off x="10670330" y="310896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3276" y="3271906"/>
            <a:ext cx="277612" cy="27761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365116" y="3840480"/>
            <a:ext cx="1213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10365116" y="4206240"/>
            <a:ext cx="1213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= one concept added to the same concierge, tested live in DevUI.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FUNCTION CALLING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device actions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composes primitives you never scripted. “Movie night” becomes a sequence of tool calls.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+ [Description] = one tool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call, or many chained in one turn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mode: auto / required / none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DevUI shows every call's args + result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builder.AddAIAgent("concierge", (sp,key) =&gt;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ChatClientAgent(chat, new()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 = [Create(SetLight), …] }));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up movie night in the living room.”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0" y="1627632"/>
            <a:ext cx="4766767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7059168" y="1773936"/>
            <a:ext cx="4401007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[Description("Turn a light on/off,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 brightness 0-100.")]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SetLight(Room room,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bool on, int? brightness)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8580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→ FOUR TOOL CALLS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0" y="397764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704088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SetLight 15%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0" y="454456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6"/>
          <p:cNvSpPr/>
          <p:nvPr/>
        </p:nvSpPr>
        <p:spPr>
          <a:xfrm>
            <a:off x="7040880" y="4544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SetThermostat 21°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58000" y="5111496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18"/>
          <p:cNvSpPr/>
          <p:nvPr/>
        </p:nvSpPr>
        <p:spPr>
          <a:xfrm>
            <a:off x="7040880" y="5111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PlayMusic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858000" y="5678424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20"/>
          <p:cNvSpPr/>
          <p:nvPr/>
        </p:nvSpPr>
        <p:spPr>
          <a:xfrm>
            <a:off x="7040880" y="5678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LockDoor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OUTPUT &amp; VISION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results and images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agent a component other code can trust — and let it see.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→ strongly-typed JSON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HomeStatusReport instead of prose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upload a room photo, ask about 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for long replies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report = await agent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.RunAsync&lt;HomeStatusReport&gt;(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 home status");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the current home status.”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0" y="1627632"/>
            <a:ext cx="4766767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7059168" y="1773936"/>
            <a:ext cx="4401007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HomeStatusReport(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ThermostatC,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  FrontDoorLocked,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  AlarmArmed,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string? ActiveScene,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string[] RoomsWithLightsOn);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58000" y="4206240"/>
            <a:ext cx="4766767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3"/>
          <p:cNvSpPr/>
          <p:nvPr/>
        </p:nvSpPr>
        <p:spPr>
          <a:xfrm>
            <a:off x="7132320" y="44805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453" y="462869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040880" y="5074920"/>
            <a:ext cx="440100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vision model (gpt-4o, or llava on Ollama), drop a photo into DevUI, and the concierge reasons about the room.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MEMORY &amp; SESSIONS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remembers you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within a chat; long-term preferences that survive a restart.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providers: in-memory, file, vector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shared across multiple agents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+ restore conversation state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stateless robot — it persists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[Description("Remember a preference")]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RememberPreference(string key,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string value) =&gt; _store.Set(key, value);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movie-night temp is 20°C.”  → restart → still known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0" y="1737360"/>
            <a:ext cx="4766767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70866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086600" y="2194560"/>
            <a:ext cx="4309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“Remember: movie night = 20°C, 15% lights.”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86600" y="2788920"/>
            <a:ext cx="4309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RememberPreference("movie night", …)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086600" y="3200400"/>
            <a:ext cx="4309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disk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0" y="4023360"/>
            <a:ext cx="476676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6"/>
          <p:cNvSpPr/>
          <p:nvPr/>
        </p:nvSpPr>
        <p:spPr>
          <a:xfrm>
            <a:off x="708660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RESTART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086600" y="4480560"/>
            <a:ext cx="4309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up movie night.”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086600" y="5029200"/>
            <a:ext cx="43095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recalls 20°C &amp; 15% without being told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SESSION STATE LIVES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container's memory isn't everyone's memory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thread/session is just a live object in RAM. With the default in-memory provider, that RAM belongs to ONE container.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6928" y="2194560"/>
            <a:ext cx="525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IN-MEMORY PROVIDER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560320"/>
            <a:ext cx="24901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1537678" y="26974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811" y="2845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19272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66928" y="3611880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 abc123 ✓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31388" y="2560320"/>
            <a:ext cx="24901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4302138" y="2697480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271" y="284561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1388" y="3319272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331388" y="3611880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 abc123 ?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285668" y="2194560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→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6928" y="4069080"/>
            <a:ext cx="525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— B never saw turn 1.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70168" y="2194560"/>
            <a:ext cx="525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DB-BACKED PROVIDER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70168" y="2560320"/>
            <a:ext cx="2490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17"/>
          <p:cNvSpPr/>
          <p:nvPr/>
        </p:nvSpPr>
        <p:spPr>
          <a:xfrm>
            <a:off x="7340917" y="26974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050" y="2845613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70168" y="3319272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134627" y="2560320"/>
            <a:ext cx="24901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Shape 20"/>
          <p:cNvSpPr/>
          <p:nvPr/>
        </p:nvSpPr>
        <p:spPr>
          <a:xfrm>
            <a:off x="10105377" y="26974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510" y="2845613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34627" y="3319272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615238" y="3977640"/>
            <a:ext cx="1382230" cy="502920"/>
          </a:xfrm>
          <a:prstGeom prst="line">
            <a:avLst/>
          </a:prstGeom>
          <a:noFill/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3"/>
          <p:cNvSpPr/>
          <p:nvPr/>
        </p:nvSpPr>
        <p:spPr>
          <a:xfrm>
            <a:off x="10379697" y="3977640"/>
            <a:ext cx="0" cy="502920"/>
          </a:xfrm>
          <a:prstGeom prst="line">
            <a:avLst/>
          </a:prstGeom>
          <a:noFill/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4"/>
          <p:cNvSpPr/>
          <p:nvPr/>
        </p:nvSpPr>
        <p:spPr>
          <a:xfrm>
            <a:off x="7991627" y="44348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Shape 25"/>
          <p:cNvSpPr/>
          <p:nvPr/>
        </p:nvSpPr>
        <p:spPr>
          <a:xfrm>
            <a:off x="8128787" y="4526280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356" y="4639848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77427" y="4434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container, same conversation.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KNOWLEDGE / RAG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documents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appliance manuals, not the model's imagination.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chunk → store the manuals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passages, then answer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retrieval → watch it hallucinate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it → correct, cited steps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[Description("Search appliance manuals")]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SearchManuals(string query)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=&gt; _store.TopMatches(query, k: 3);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descale the coffee machine?”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40880" y="1783080"/>
            <a:ext cx="4583887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7296912" y="205740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45" y="220553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1965960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01000" y="2350008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· thermostat · HVAC · alarm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040880" y="2862072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040880" y="3200400"/>
            <a:ext cx="4583887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6"/>
          <p:cNvSpPr/>
          <p:nvPr/>
        </p:nvSpPr>
        <p:spPr>
          <a:xfrm>
            <a:off x="7296912" y="347472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045" y="362285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01000" y="3383280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001000" y="3767328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 passages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040880" y="4279392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040880" y="4617720"/>
            <a:ext cx="4583887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Shape 21"/>
          <p:cNvSpPr/>
          <p:nvPr/>
        </p:nvSpPr>
        <p:spPr>
          <a:xfrm>
            <a:off x="7296912" y="489204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045" y="5040173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01000" y="4800600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001000" y="5184648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uses only those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CONTROL &amp; INSIGHT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middleware, telemetry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agent in policy you can trust, and see exactly what it did.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sensitive actions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OpenTelemetry middleware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→ Aspire dashboard (not DevUI yet)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turn “felt right” into a CI gate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= inner.AsBuilder()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.UseLogging(loggerFactory)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.UseOpenTelemetry().Build();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“Unlock the front door.” → confirm → “Yes.”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0" y="1783080"/>
            <a:ext cx="476676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7114032" y="2011680"/>
            <a:ext cx="530352" cy="530352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227" y="2154875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0" y="2057400"/>
            <a:ext cx="3669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 gated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132320" y="2697480"/>
            <a:ext cx="42181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“Unlock the door”  → agent asks to confirm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user says yes  → RequestApproval()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UnlockDoor() runs once, then re-locks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858000" y="3977640"/>
            <a:ext cx="4766767" cy="187452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5"/>
          <p:cNvSpPr/>
          <p:nvPr/>
        </p:nvSpPr>
        <p:spPr>
          <a:xfrm>
            <a:off x="7114032" y="4206240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7227" y="4349435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251960"/>
            <a:ext cx="3669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0" y="4846320"/>
            <a:ext cx="42181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and tool call becomes a span. Export OTLP and watch latency + tokens live in the Aspire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ORCHESTRATION + MCP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working together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concerns across agents; bring in external tools over MCP.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· security · energy specialists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routes + chains them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 calls an MCP server for prices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language-agnostic (use a Python server)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6035040" cy="808330"/>
          </a:xfrm>
          <a:prstGeom prst="roundRect">
            <a:avLst>
              <a:gd name="adj" fmla="val 9050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8096" y="4645152"/>
            <a:ext cx="566928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builder.AddWorkflow("home-ops", (sp,key) =&gt;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AgentWorkflowBuilder.BuildSequential(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key, [security, comfort, energy]));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870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 DevUI: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“Heading out — make it safe and cheap.”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1264" y="17373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8281264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home-ops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287104" y="2377440"/>
            <a:ext cx="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3"/>
          <p:cNvSpPr/>
          <p:nvPr/>
        </p:nvSpPr>
        <p:spPr>
          <a:xfrm>
            <a:off x="6949440" y="2971800"/>
            <a:ext cx="137556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4"/>
          <p:cNvSpPr/>
          <p:nvPr/>
        </p:nvSpPr>
        <p:spPr>
          <a:xfrm>
            <a:off x="7362901" y="31546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034" y="330281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3767328"/>
            <a:ext cx="1375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287104" y="2377440"/>
            <a:ext cx="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17"/>
          <p:cNvSpPr/>
          <p:nvPr/>
        </p:nvSpPr>
        <p:spPr>
          <a:xfrm>
            <a:off x="8599322" y="2971800"/>
            <a:ext cx="137556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Shape 18"/>
          <p:cNvSpPr/>
          <p:nvPr/>
        </p:nvSpPr>
        <p:spPr>
          <a:xfrm>
            <a:off x="9012784" y="315468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916" y="3302813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9322" y="3767328"/>
            <a:ext cx="1375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287104" y="2377440"/>
            <a:ext cx="1649882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1"/>
          <p:cNvSpPr/>
          <p:nvPr/>
        </p:nvSpPr>
        <p:spPr>
          <a:xfrm>
            <a:off x="10249205" y="2971800"/>
            <a:ext cx="137556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Shape 22"/>
          <p:cNvSpPr/>
          <p:nvPr/>
        </p:nvSpPr>
        <p:spPr>
          <a:xfrm>
            <a:off x="10662666" y="31546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0799" y="3302813"/>
            <a:ext cx="252374" cy="25237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249205" y="3767328"/>
            <a:ext cx="1375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10936986" y="4343400"/>
            <a:ext cx="0" cy="502920"/>
          </a:xfrm>
          <a:prstGeom prst="line">
            <a:avLst/>
          </a:prstGeom>
          <a:noFill/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25"/>
          <p:cNvSpPr/>
          <p:nvPr/>
        </p:nvSpPr>
        <p:spPr>
          <a:xfrm>
            <a:off x="10157765" y="4892040"/>
            <a:ext cx="155844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Shape 26"/>
          <p:cNvSpPr/>
          <p:nvPr/>
        </p:nvSpPr>
        <p:spPr>
          <a:xfrm>
            <a:off x="10708386" y="502920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1830" y="5152644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157765" y="5440680"/>
            <a:ext cx="155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hosting picture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00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ship a Web API, you can ship an agent — same DI, same host, same config.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33172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822960" y="2587752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1344168" y="24414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DevUI  /  AG-UI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321808" y="2441448"/>
            <a:ext cx="6028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dashboard + user-facing UI, over OpenAI-compatible endpoints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67248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4107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822960" y="366674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1344168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host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321808" y="3520440"/>
            <a:ext cx="6028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builder.AddAIAgent(...) · AddWorkflow(...) · MapDevUI()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67248" y="4197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4897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5"/>
          <p:cNvSpPr/>
          <p:nvPr/>
        </p:nvSpPr>
        <p:spPr>
          <a:xfrm>
            <a:off x="822960" y="474573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6"/>
          <p:cNvSpPr/>
          <p:nvPr/>
        </p:nvSpPr>
        <p:spPr>
          <a:xfrm>
            <a:off x="1344168" y="4599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  (+ middleware)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321808" y="4599432"/>
            <a:ext cx="6028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· tools · approval · logging · OpenTelemetry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67248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556869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Shape 20"/>
          <p:cNvSpPr/>
          <p:nvPr/>
        </p:nvSpPr>
        <p:spPr>
          <a:xfrm>
            <a:off x="822960" y="5824728"/>
            <a:ext cx="329184" cy="329184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1344168" y="56784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IChatClient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321808" y="5678424"/>
            <a:ext cx="6028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OpenAI · GitHub Models · Ollama · ONNX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841248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4"/>
          <p:cNvSpPr/>
          <p:nvPr/>
        </p:nvSpPr>
        <p:spPr>
          <a:xfrm>
            <a:off x="859536" y="257860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82" y="2741554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8488" y="257860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86968" y="3200400"/>
            <a:ext cx="466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model + framework versions; the APIs still move.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324448" y="22860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8"/>
          <p:cNvSpPr/>
          <p:nvPr/>
        </p:nvSpPr>
        <p:spPr>
          <a:xfrm>
            <a:off x="6617056" y="257860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02" y="2741554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76008" y="257860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sensitive tools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44488" y="3200400"/>
            <a:ext cx="466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 anything that unlocks, spends or deletes.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66928" y="43434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2"/>
          <p:cNvSpPr/>
          <p:nvPr/>
        </p:nvSpPr>
        <p:spPr>
          <a:xfrm>
            <a:off x="859536" y="463600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482" y="4798954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18488" y="463600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telemetry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86968" y="5257800"/>
            <a:ext cx="466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from day one — traces, tokens, latency.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324448" y="4343400"/>
            <a:ext cx="530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Shape 16"/>
          <p:cNvSpPr/>
          <p:nvPr/>
        </p:nvSpPr>
        <p:spPr>
          <a:xfrm>
            <a:off x="6617056" y="463600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002" y="4798954"/>
            <a:ext cx="277612" cy="2776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76008" y="463600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evals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44488" y="5257800"/>
            <a:ext cx="466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demo confidence into a repeatable CI gate.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BUILD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journey starts here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036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028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2843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AgentFrameworkBook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16736" y="31638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github.com/dcostea/AgentFrameworkBook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63016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77830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35935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16736" y="39136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github.com/microsoft/agent-framework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437997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528109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16736" y="4343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16736" y="4663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github.com/microsoft/Agent-Framework-Samples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5129784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5277917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16736" y="5093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DevUI docs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16736" y="5413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learn.microsoft.com/agent-framework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66928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let's open DevUI.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4010</Words>
  <Application>Microsoft Office PowerPoint</Application>
  <PresentationFormat>Widescreen</PresentationFormat>
  <Paragraphs>479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AI Agents in .NET — Microsoft Agent Framework</dc:title>
  <dc:subject>PptxGenJS Presentation</dc:subject>
  <dc:creator>Workshop</dc:creator>
  <cp:lastModifiedBy>Shimon Dahan personal</cp:lastModifiedBy>
  <cp:revision>2</cp:revision>
  <dcterms:created xsi:type="dcterms:W3CDTF">2026-06-29T21:06:33Z</dcterms:created>
  <dcterms:modified xsi:type="dcterms:W3CDTF">2026-07-22T03:54:21Z</dcterms:modified>
</cp:coreProperties>
</file>